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2" r:id="rId2"/>
    <p:sldId id="257" r:id="rId3"/>
    <p:sldId id="903" r:id="rId4"/>
    <p:sldId id="904" r:id="rId5"/>
    <p:sldId id="258" r:id="rId6"/>
    <p:sldId id="905" r:id="rId7"/>
    <p:sldId id="259" r:id="rId8"/>
    <p:sldId id="913" r:id="rId9"/>
    <p:sldId id="906" r:id="rId10"/>
    <p:sldId id="907" r:id="rId11"/>
    <p:sldId id="260" r:id="rId12"/>
    <p:sldId id="908" r:id="rId13"/>
    <p:sldId id="909" r:id="rId14"/>
    <p:sldId id="910" r:id="rId15"/>
    <p:sldId id="911" r:id="rId16"/>
    <p:sldId id="912" r:id="rId17"/>
    <p:sldId id="91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89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01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01EB0-0AC6-4825-A0A6-97C273220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3869A-78AC-78E5-F777-3BC6D1701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95AF8-BF85-6D96-9773-41FCC7416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AFBAA-4756-C62F-61E4-931C4BBA8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54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83CF1-5653-8CDA-C69A-178FD330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68A2B-B3FD-AC66-E25C-D01652BBD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8F1FF2-5674-530C-1DC4-FF4A5132E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34BD9-E976-95D1-96F7-FA8ABB425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70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7175E-04D5-845F-8F90-944801EA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9A258-E053-97CE-C450-A06447DB7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54DDA-ABE0-58D7-8DE1-C8EC31EEC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8F304-BDAF-A166-6961-6CBCE70C5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22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10AA4-A60B-EFAA-696D-314CADE90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A62B3-0355-89BE-02CB-62354617D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CB737-2638-9151-4C22-95E23B453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AE0B9-88FF-DCC5-FF47-EF93DE590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70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ontiersin.org/journals/artificial-intelligence/articles/10.3389/frai.2026.1812622/full?utm_source=chatgpt.com" TargetMode="External"/><Relationship Id="rId3" Type="http://schemas.openxmlformats.org/officeDocument/2006/relationships/hyperlink" Target="https://pubmed.ncbi.nlm.nih.gov/31949894/?utm_source=chatgpt.com" TargetMode="External"/><Relationship Id="rId7" Type="http://schemas.openxmlformats.org/officeDocument/2006/relationships/hyperlink" Target="https://www.sciencedirect.com/science/article/pii/S2666521225000900?utm_source=chatgpt.com" TargetMode="External"/><Relationship Id="rId12" Type="http://schemas.openxmlformats.org/officeDocument/2006/relationships/hyperlink" Target="https://pmc.ncbi.nlm.nih.gov/articles/PMC10107388/?utm_source=chatgpt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ubmed.ncbi.nlm.nih.gov/36527769/?utm_source=chatgpt.com" TargetMode="External"/><Relationship Id="rId11" Type="http://schemas.openxmlformats.org/officeDocument/2006/relationships/hyperlink" Target="https://pmc.ncbi.nlm.nih.gov/articles/PMC8943493/?utm_source=chatgpt.com" TargetMode="External"/><Relationship Id="rId5" Type="http://schemas.openxmlformats.org/officeDocument/2006/relationships/hyperlink" Target="https://www.cdc.gov/pcd/issues/2019/19_0109.htm?utm_source=chatgpt.com" TargetMode="External"/><Relationship Id="rId10" Type="http://schemas.openxmlformats.org/officeDocument/2006/relationships/hyperlink" Target="https://pubmed.ncbi.nlm.nih.gov/31615566/?utm_source=chatgpt.com" TargetMode="External"/><Relationship Id="rId4" Type="http://schemas.openxmlformats.org/officeDocument/2006/relationships/hyperlink" Target="https://link.springer.com/article/10.1007/s10916-018-0940-7?utm_source=chatgpt.com" TargetMode="External"/><Relationship Id="rId9" Type="http://schemas.openxmlformats.org/officeDocument/2006/relationships/hyperlink" Target="https://pubmed.ncbi.nlm.nih.gov/34299797/?utm_source=chatgpt.com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3034905"/>
            <a:ext cx="6200774" cy="61555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16th September, 2026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910369"/>
              </p:ext>
            </p:extLst>
          </p:nvPr>
        </p:nvGraphicFramePr>
        <p:xfrm>
          <a:off x="8193271" y="4898509"/>
          <a:ext cx="3702050" cy="1310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Masuma Fathema – 2420030400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Ch. Bhargavi Devi  - 2420030588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Dama Poojitha – 2420030697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P. Kavya Sai - 2420030322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902847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Mrs.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Bonagani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Prathusha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10625" y="6329436"/>
            <a:ext cx="2743200" cy="365125"/>
          </a:xfrm>
        </p:spPr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dirty="0">
                <a:solidFill>
                  <a:schemeClr val="bg1"/>
                </a:solidFill>
              </a:rPr>
              <a:t>“HealthScope” – A Full-Lifecycle Public Health Analytics &amp; Risk Dashboard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(24AD3107)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1C611F-8CE0-BAAF-CE8F-1D7B994B4A9E}"/>
              </a:ext>
            </a:extLst>
          </p:cNvPr>
          <p:cNvSpPr txBox="1"/>
          <p:nvPr/>
        </p:nvSpPr>
        <p:spPr>
          <a:xfrm>
            <a:off x="782051" y="1346818"/>
            <a:ext cx="1064303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IN" sz="2000" dirty="0"/>
              <a:t>Healthcare datasets contain large amounts of information about individuals and their health conditions. </a:t>
            </a:r>
          </a:p>
          <a:p>
            <a:pPr lvl="0" algn="just"/>
            <a:r>
              <a:rPr lang="en-IN" sz="2000" dirty="0"/>
              <a:t>Identifying meaningful relationships between different health factors and disease outcomes can be difficult through manual analysis. </a:t>
            </a:r>
          </a:p>
          <a:p>
            <a:pPr lvl="0" algn="just"/>
            <a:r>
              <a:rPr lang="en-IN" sz="2000" dirty="0"/>
              <a:t>Important risk factors such as </a:t>
            </a:r>
            <a:r>
              <a:rPr lang="en-IN" sz="2000" b="1" dirty="0"/>
              <a:t>glucose, blood pressure, BMI, cholesterol, and age</a:t>
            </a:r>
            <a:r>
              <a:rPr lang="en-IN" sz="2000" dirty="0"/>
              <a:t> may interact with each other. </a:t>
            </a:r>
          </a:p>
          <a:p>
            <a:pPr lvl="0" algn="just"/>
            <a:r>
              <a:rPr lang="en-IN" sz="2000" dirty="0"/>
              <a:t>A simple dataset does not directly provide an understandable view of </a:t>
            </a:r>
            <a:r>
              <a:rPr lang="en-IN" sz="2000" b="1" dirty="0"/>
              <a:t>health trends and disease risk</a:t>
            </a:r>
            <a:r>
              <a:rPr lang="en-IN" sz="2000" dirty="0"/>
              <a:t>. </a:t>
            </a:r>
          </a:p>
          <a:p>
            <a:pPr lvl="0" algn="just"/>
            <a:endParaRPr lang="en-IN" sz="2000" dirty="0"/>
          </a:p>
          <a:p>
            <a:pPr lvl="0" algn="just"/>
            <a:r>
              <a:rPr lang="en-IN" sz="2000" dirty="0"/>
              <a:t>There is a need for a system that can: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Analyze healthcare data efficiently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Identify important risk factors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Apply machine learning for risk prediction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Present results through an interactive and user-friendly interface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79FF30-D480-B767-4A3A-9D550C7F3808}"/>
              </a:ext>
            </a:extLst>
          </p:cNvPr>
          <p:cNvSpPr txBox="1"/>
          <p:nvPr/>
        </p:nvSpPr>
        <p:spPr>
          <a:xfrm>
            <a:off x="797092" y="1485543"/>
            <a:ext cx="1017570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To collect and utilize publicly available healthcare datasets.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To preprocess and clean the healthcare data for analysis.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To perform Exploratory Data Analysis (EDA) and statistical analysis.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To identify important health and disease risk factors.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To perform feature engineering to prepare relevant features for machine learning.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To develop disease-risk prediction models using: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Logistic Regression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Decision Tree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Random Forest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To evaluate and compare the performance of the developed models.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To develop an interactive dashboard for health analytics and individual risk prediction.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305F-CBEC-B6BA-E15F-73A31DCCC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40825E-6B31-CB49-7012-F16D96B42986}"/>
              </a:ext>
            </a:extLst>
          </p:cNvPr>
          <p:cNvSpPr txBox="1"/>
          <p:nvPr/>
        </p:nvSpPr>
        <p:spPr>
          <a:xfrm>
            <a:off x="3048000" y="13228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PROJECT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C682F2-477E-6C05-8B51-5BB651768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C9371C-98B3-B085-314C-05C68F485E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43" b="9727"/>
          <a:stretch>
            <a:fillRect/>
          </a:stretch>
        </p:blipFill>
        <p:spPr>
          <a:xfrm>
            <a:off x="2408320" y="778616"/>
            <a:ext cx="7375359" cy="584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636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A583E5-1570-2937-1929-9F4CD2731014}"/>
              </a:ext>
            </a:extLst>
          </p:cNvPr>
          <p:cNvSpPr txBox="1"/>
          <p:nvPr/>
        </p:nvSpPr>
        <p:spPr>
          <a:xfrm>
            <a:off x="804672" y="1380521"/>
            <a:ext cx="1138732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u="sng" dirty="0"/>
              <a:t>1. Data Collection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Use publicly available datasets related to diabetes or heart disease.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Select relevant health-related attributes and target disease outcome.</a:t>
            </a:r>
          </a:p>
          <a:p>
            <a:pPr lvl="0" algn="just"/>
            <a:r>
              <a:rPr lang="en-IN" sz="2000" dirty="0"/>
              <a:t> </a:t>
            </a:r>
          </a:p>
          <a:p>
            <a:pPr algn="just"/>
            <a:r>
              <a:rPr lang="en-IN" sz="2000" u="sng" dirty="0"/>
              <a:t>2. Data Preprocessing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Handle missing or inconsistent values.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Remove duplicate/unnecessary records.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Convert categorical variables where required.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Scale numerical features when required. </a:t>
            </a:r>
          </a:p>
          <a:p>
            <a:pPr lvl="0" algn="just"/>
            <a:endParaRPr lang="en-IN" sz="2000" dirty="0"/>
          </a:p>
          <a:p>
            <a:pPr algn="just"/>
            <a:r>
              <a:rPr lang="en-IN" sz="2000" u="sng" dirty="0"/>
              <a:t>3. Exploratory Data Analysis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Analyze distributions of health variables.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Study relationships between risk factors and disease outcomes.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Use charts and statistical measures to identify patterns. 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91C9F-EC3C-F45B-6774-7020F03E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13E635-9DDF-C0D0-DF0B-5D9A8D1323D3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96160-C1C0-6259-1801-487E026C3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E9DACC-5123-308C-15D2-E9241B7184F3}"/>
              </a:ext>
            </a:extLst>
          </p:cNvPr>
          <p:cNvSpPr txBox="1"/>
          <p:nvPr/>
        </p:nvSpPr>
        <p:spPr>
          <a:xfrm>
            <a:off x="804672" y="1382286"/>
            <a:ext cx="1138732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u="sng" dirty="0"/>
              <a:t>4. Feature Engineering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Select relevant features.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Transform variables where necessary.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Prepare the final feature set for machine learning. </a:t>
            </a:r>
          </a:p>
          <a:p>
            <a:pPr algn="just"/>
            <a:endParaRPr lang="en-IN" sz="2000" u="sng" dirty="0"/>
          </a:p>
          <a:p>
            <a:pPr algn="just"/>
            <a:r>
              <a:rPr lang="en-IN" sz="2000" u="sng" dirty="0"/>
              <a:t>5. Model Development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Train and compare: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Logistic Regression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Decision Tree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Random Forest 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u="sng" dirty="0"/>
              <a:t>6. Evaluation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Evaluate models using appropriate classification metrics.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u="sng" dirty="0"/>
              <a:t>7. Dashboard Development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Integrate analytics, visualizations, model results and individual risk prediction into HealthScope.</a:t>
            </a:r>
          </a:p>
        </p:txBody>
      </p:sp>
    </p:spTree>
    <p:extLst>
      <p:ext uri="{BB962C8B-B14F-4D97-AF65-F5344CB8AC3E}">
        <p14:creationId xmlns:p14="http://schemas.microsoft.com/office/powerpoint/2010/main" val="343295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MACHINE LEARNING APPROACH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C664A7-C954-DE2B-DB45-498442050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07437"/>
              </p:ext>
            </p:extLst>
          </p:nvPr>
        </p:nvGraphicFramePr>
        <p:xfrm>
          <a:off x="838199" y="1351053"/>
          <a:ext cx="10515600" cy="22860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330149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847369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Model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9297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Logistic Regression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Provides a baseline classification model for disease-risk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6031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Decision Tree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Uses decision rules based on health features to classify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352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Random Forest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Combines multiple decision trees to improve classification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263001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E1456F-BDD9-D23E-91AD-51879C7244B5}"/>
              </a:ext>
            </a:extLst>
          </p:cNvPr>
          <p:cNvSpPr txBox="1"/>
          <p:nvPr/>
        </p:nvSpPr>
        <p:spPr>
          <a:xfrm>
            <a:off x="838199" y="3774424"/>
            <a:ext cx="101346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Model Evaluation</a:t>
            </a:r>
          </a:p>
          <a:p>
            <a:pPr>
              <a:buNone/>
            </a:pPr>
            <a:r>
              <a:rPr lang="en-IN" dirty="0"/>
              <a:t>The models will be compared using: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Accuracy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Precision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Recall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F1-Score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Confusion Matrix </a:t>
            </a:r>
          </a:p>
          <a:p>
            <a:pPr>
              <a:buNone/>
            </a:pPr>
            <a:r>
              <a:rPr lang="en-IN" b="1" dirty="0"/>
              <a:t>Model Selection</a:t>
            </a:r>
          </a:p>
          <a:p>
            <a:pPr>
              <a:buNone/>
            </a:pPr>
            <a:r>
              <a:rPr lang="en-IN" dirty="0"/>
              <a:t>The models will be evaluated on the same test data, and their performance will be compared to determine the most suitable model for the final risk-prediction component.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7644E-41C7-FCCF-06A4-C1564C422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3196A6-BDA4-BE76-A4D1-EEAA1E2AAB13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DASHBOARD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AD1134-656B-5C2D-80E2-B4A7A88CB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74369B-49BF-3C45-26A8-DD63A10190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637" b="7453"/>
          <a:stretch>
            <a:fillRect/>
          </a:stretch>
        </p:blipFill>
        <p:spPr>
          <a:xfrm>
            <a:off x="1484670" y="1312004"/>
            <a:ext cx="9948877" cy="516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57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82777-BB88-D0E3-4EFF-27C14E88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0C2EE4-15A7-1D42-B2C6-7B9C303636CB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TECHNICAL STACK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18665B-7B8F-6695-87BD-784E96E93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EDCAD77-D557-3DB6-2AAB-CB844D68E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473706"/>
              </p:ext>
            </p:extLst>
          </p:nvPr>
        </p:nvGraphicFramePr>
        <p:xfrm>
          <a:off x="838200" y="1965960"/>
          <a:ext cx="10515600" cy="29260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33733249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565759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</a:rPr>
                        <a:t>Area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</a:rPr>
                        <a:t>Technology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328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Programming Language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Python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913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Data Processing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Pandas, NumPy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93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Data Visualization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Matplotlib, Seaborn / </a:t>
                      </a: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</a:rPr>
                        <a:t>Plotly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2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Machine Learning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Scikit-learn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323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Dashboard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</a:rPr>
                        <a:t>Streamlit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047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Model Storage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</a:rPr>
                        <a:t>Joblib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 / Pickle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4302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Dataset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Public Healthcare Dataset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0501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722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870A4-9784-057F-6C6E-248F5E4F6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AB45B5-7FD4-A1CC-25AF-9254A6A289E7}"/>
              </a:ext>
            </a:extLst>
          </p:cNvPr>
          <p:cNvSpPr txBox="1"/>
          <p:nvPr/>
        </p:nvSpPr>
        <p:spPr>
          <a:xfrm>
            <a:off x="3048000" y="19386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16EC1D-958F-AEE8-C11E-A3EA048D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991267-8E62-47E7-5373-7CCAA96148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559"/>
          <a:stretch>
            <a:fillRect/>
          </a:stretch>
        </p:blipFill>
        <p:spPr>
          <a:xfrm>
            <a:off x="877801" y="970013"/>
            <a:ext cx="5376297" cy="51161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5A232B-D6D0-4EDF-4194-F0C171D657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211"/>
          <a:stretch>
            <a:fillRect/>
          </a:stretch>
        </p:blipFill>
        <p:spPr>
          <a:xfrm>
            <a:off x="6447584" y="1111044"/>
            <a:ext cx="5254989" cy="321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64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299384"/>
            <a:ext cx="7234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PROBLEM GAP IDENTIFICATION</a:t>
            </a: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A64043-EF56-AAE3-6753-A7047B73E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355491"/>
              </p:ext>
            </p:extLst>
          </p:nvPr>
        </p:nvGraphicFramePr>
        <p:xfrm>
          <a:off x="206475" y="1127626"/>
          <a:ext cx="11779050" cy="57303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1278">
                  <a:extLst>
                    <a:ext uri="{9D8B030D-6E8A-4147-A177-3AD203B41FA5}">
                      <a16:colId xmlns:a16="http://schemas.microsoft.com/office/drawing/2014/main" val="3120672817"/>
                    </a:ext>
                  </a:extLst>
                </a:gridCol>
                <a:gridCol w="2635045">
                  <a:extLst>
                    <a:ext uri="{9D8B030D-6E8A-4147-A177-3AD203B41FA5}">
                      <a16:colId xmlns:a16="http://schemas.microsoft.com/office/drawing/2014/main" val="2739441246"/>
                    </a:ext>
                  </a:extLst>
                </a:gridCol>
                <a:gridCol w="2526890">
                  <a:extLst>
                    <a:ext uri="{9D8B030D-6E8A-4147-A177-3AD203B41FA5}">
                      <a16:colId xmlns:a16="http://schemas.microsoft.com/office/drawing/2014/main" val="3570724248"/>
                    </a:ext>
                  </a:extLst>
                </a:gridCol>
                <a:gridCol w="3750027">
                  <a:extLst>
                    <a:ext uri="{9D8B030D-6E8A-4147-A177-3AD203B41FA5}">
                      <a16:colId xmlns:a16="http://schemas.microsoft.com/office/drawing/2014/main" val="3924462466"/>
                    </a:ext>
                  </a:extLst>
                </a:gridCol>
                <a:gridCol w="2355810">
                  <a:extLst>
                    <a:ext uri="{9D8B030D-6E8A-4147-A177-3AD203B41FA5}">
                      <a16:colId xmlns:a16="http://schemas.microsoft.com/office/drawing/2014/main" val="1913736618"/>
                    </a:ext>
                  </a:extLst>
                </a:gridCol>
              </a:tblGrid>
              <a:tr h="100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S.No.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Research Paper Name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Problem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Gap Identification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Research Paper Link</a:t>
                      </a:r>
                    </a:p>
                  </a:txBody>
                  <a:tcPr marL="11451" marR="11451" marT="5725" marB="5725" anchor="ctr"/>
                </a:tc>
                <a:extLst>
                  <a:ext uri="{0D108BD9-81ED-4DB2-BD59-A6C34878D82A}">
                    <a16:rowId xmlns:a16="http://schemas.microsoft.com/office/drawing/2014/main" val="211629219"/>
                  </a:ext>
                </a:extLst>
              </a:tr>
              <a:tr h="61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Classification and Prediction of Diabetes Disease Using Machine Learning Paradigm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Predict diabetes and identify significant diabetes risk factors using machine learning.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The study mainly focuses on diabetes classification and prediction; it does not provide an integrated analytics dashboard combining EDA, visualization, model comparison and individual prediction.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hlinkClick r:id="rId3"/>
                        </a:rPr>
                        <a:t>Research Paper – PubMed</a:t>
                      </a:r>
                      <a:endParaRPr lang="en-IN" sz="1000"/>
                    </a:p>
                  </a:txBody>
                  <a:tcPr marL="11451" marR="11451" marT="5725" marB="5725" anchor="ctr"/>
                </a:tc>
                <a:extLst>
                  <a:ext uri="{0D108BD9-81ED-4DB2-BD59-A6C34878D82A}">
                    <a16:rowId xmlns:a16="http://schemas.microsoft.com/office/drawing/2014/main" val="2215870757"/>
                  </a:ext>
                </a:extLst>
              </a:tr>
              <a:tr h="445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Accurate Diabetes Risk Stratification Using Machine Learning: Role of Missing Value and Outliers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Improve diabetes risk prediction by handling missing values and outliers.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Strong focus on preprocessing and classification, but the work does not integrate the complete data-science lifecycle into an interactive user-facing platform.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hlinkClick r:id="rId4"/>
                        </a:rPr>
                        <a:t>Research Paper – Springer</a:t>
                      </a:r>
                      <a:endParaRPr lang="en-IN" sz="1000"/>
                    </a:p>
                  </a:txBody>
                  <a:tcPr marL="11451" marR="11451" marT="5725" marB="5725" anchor="ctr"/>
                </a:tc>
                <a:extLst>
                  <a:ext uri="{0D108BD9-81ED-4DB2-BD59-A6C34878D82A}">
                    <a16:rowId xmlns:a16="http://schemas.microsoft.com/office/drawing/2014/main" val="3116619093"/>
                  </a:ext>
                </a:extLst>
              </a:tr>
              <a:tr h="445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3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Building Risk Prediction Models for Type 2 Diabetes Using Machine Learning Techniques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Develop ML models to predict Type 2 diabetes and identify associated risk factors using large survey data.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Multiple ML algorithms are compared, but the study is primarily focused on prediction rather than an integrated analytics and visualization dashboard.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hlinkClick r:id="rId5"/>
                        </a:rPr>
                        <a:t>Research Paper – CDC</a:t>
                      </a:r>
                      <a:endParaRPr lang="en-IN" sz="1000"/>
                    </a:p>
                  </a:txBody>
                  <a:tcPr marL="11451" marR="11451" marT="5725" marB="5725" anchor="ctr"/>
                </a:tc>
                <a:extLst>
                  <a:ext uri="{0D108BD9-81ED-4DB2-BD59-A6C34878D82A}">
                    <a16:rowId xmlns:a16="http://schemas.microsoft.com/office/drawing/2014/main" val="1149271380"/>
                  </a:ext>
                </a:extLst>
              </a:tr>
              <a:tr h="61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4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Diabetes Disease Detection and Classification on Indian Demographic and Health Survey Data Using Machine Learning Methods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Detect and classify diabetes using Indian demographic and health survey data and identify important risk factors.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Although Indian health data and several ML techniques are used, the study does not focus on presenting population analytics, model comparison and individual prediction together in a unified dashboard.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hlinkClick r:id="rId6"/>
                        </a:rPr>
                        <a:t>Research Paper – PubMed</a:t>
                      </a:r>
                      <a:endParaRPr lang="en-IN" sz="1000"/>
                    </a:p>
                  </a:txBody>
                  <a:tcPr marL="11451" marR="11451" marT="5725" marB="5725" anchor="ctr"/>
                </a:tc>
                <a:extLst>
                  <a:ext uri="{0D108BD9-81ED-4DB2-BD59-A6C34878D82A}">
                    <a16:rowId xmlns:a16="http://schemas.microsoft.com/office/drawing/2014/main" val="3737349678"/>
                  </a:ext>
                </a:extLst>
              </a:tr>
              <a:tr h="531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5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Comparative Analysis of Explainable Machine Learning Models for Cardiovascular Risk Stratification Using Clinical Data and SHAP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Predict cardiovascular risk while providing explanations for model predictions.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Adds explainability and a Streamlit interface, but focuses specifically on cardiovascular risk and does not cover the broader full-lifecycle public-health analytics workflow proposed by HealthScope.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hlinkClick r:id="rId7"/>
                        </a:rPr>
                        <a:t>Research Paper – ScienceDirect</a:t>
                      </a:r>
                      <a:endParaRPr lang="en-IN" sz="1000"/>
                    </a:p>
                  </a:txBody>
                  <a:tcPr marL="11451" marR="11451" marT="5725" marB="5725" anchor="ctr"/>
                </a:tc>
                <a:extLst>
                  <a:ext uri="{0D108BD9-81ED-4DB2-BD59-A6C34878D82A}">
                    <a16:rowId xmlns:a16="http://schemas.microsoft.com/office/drawing/2014/main" val="1873732184"/>
                  </a:ext>
                </a:extLst>
              </a:tr>
              <a:tr h="531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6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An Explainable Machine Learning Framework for Cardiovascular Risk Prediction Using Structured Health Data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Develop an interpretable ML pipeline for early cardiovascular-risk prediction using structured health data.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Existing approaches often optimize prediction performance or interpretability separately; the paper identifies the need for more interpretable and actionable risk-prediction systems.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hlinkClick r:id="rId8"/>
                        </a:rPr>
                        <a:t>Research Paper – Frontiers</a:t>
                      </a:r>
                      <a:endParaRPr lang="en-IN" sz="1000"/>
                    </a:p>
                  </a:txBody>
                  <a:tcPr marL="11451" marR="11451" marT="5725" marB="5725" anchor="ctr"/>
                </a:tc>
                <a:extLst>
                  <a:ext uri="{0D108BD9-81ED-4DB2-BD59-A6C34878D82A}">
                    <a16:rowId xmlns:a16="http://schemas.microsoft.com/office/drawing/2014/main" val="1003068224"/>
                  </a:ext>
                </a:extLst>
              </a:tr>
              <a:tr h="402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7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Predicting Type 2 Diabetes Using Logistic Regression and Machine Learning Approaches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Use statistical and ML methods to identify factors associated with Type 2 diabetes and predict disease risk.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Prediction and risk-factor analysis are addressed, but there is limited integration of these results with an interactive analytics layer for users.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hlinkClick r:id="rId9"/>
                        </a:rPr>
                        <a:t>Research Paper – PubMed</a:t>
                      </a:r>
                      <a:endParaRPr lang="en-IN" sz="1000"/>
                    </a:p>
                  </a:txBody>
                  <a:tcPr marL="11451" marR="11451" marT="5725" marB="5725" anchor="ctr"/>
                </a:tc>
                <a:extLst>
                  <a:ext uri="{0D108BD9-81ED-4DB2-BD59-A6C34878D82A}">
                    <a16:rowId xmlns:a16="http://schemas.microsoft.com/office/drawing/2014/main" val="3588672913"/>
                  </a:ext>
                </a:extLst>
              </a:tr>
              <a:tr h="488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8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Predictive Models for Diabetes Mellitus Using Machine Learning Techniques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Develop predictive models for diabetes using different machine-learning techniques.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The emphasis is on predictive performance rather than combining preprocessing, EDA, risk-factor visualization, model comparison and individual prediction into one platform.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hlinkClick r:id="rId10"/>
                        </a:rPr>
                        <a:t>Research Paper – PubMed</a:t>
                      </a:r>
                      <a:endParaRPr lang="en-IN" sz="1000"/>
                    </a:p>
                  </a:txBody>
                  <a:tcPr marL="11451" marR="11451" marT="5725" marB="5725" anchor="ctr"/>
                </a:tc>
                <a:extLst>
                  <a:ext uri="{0D108BD9-81ED-4DB2-BD59-A6C34878D82A}">
                    <a16:rowId xmlns:a16="http://schemas.microsoft.com/office/drawing/2014/main" val="2790803790"/>
                  </a:ext>
                </a:extLst>
              </a:tr>
              <a:tr h="61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9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Pima Indians Diabetes Mellitus Classification Based on Machine Learning Algorithms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Classify diabetes using the Pima Indians Diabetes dataset and evaluate different ML algorithms.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The research primarily addresses classification on a specific dataset, leaving scope for a broader system incorporating interactive analysis, visualization and multiple stages of the data-science lifecycle.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hlinkClick r:id="rId11"/>
                        </a:rPr>
                        <a:t>Research Paper – PMC</a:t>
                      </a:r>
                      <a:endParaRPr lang="en-IN" sz="1000"/>
                    </a:p>
                  </a:txBody>
                  <a:tcPr marL="11451" marR="11451" marT="5725" marB="5725" anchor="ctr"/>
                </a:tc>
                <a:extLst>
                  <a:ext uri="{0D108BD9-81ED-4DB2-BD59-A6C34878D82A}">
                    <a16:rowId xmlns:a16="http://schemas.microsoft.com/office/drawing/2014/main" val="3820308871"/>
                  </a:ext>
                </a:extLst>
              </a:tr>
              <a:tr h="660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10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Diabetes Prediction Using Machine Learning and Explainable AI Techniques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Develop diabetes prediction models and improve understanding of model decisions through explainable AI.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Focuses on prediction and explainability, while an integrated platform combining population-level analytics, EDA, risk factors, model comparison and interactive individual prediction remains an area for development.</a:t>
                      </a:r>
                    </a:p>
                  </a:txBody>
                  <a:tcPr marL="11451" marR="11451" marT="5725" marB="57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hlinkClick r:id="rId12"/>
                        </a:rPr>
                        <a:t>Research Paper – PMC</a:t>
                      </a:r>
                      <a:endParaRPr lang="en-IN" sz="1000" dirty="0"/>
                    </a:p>
                  </a:txBody>
                  <a:tcPr marL="11451" marR="11451" marT="5725" marB="5725" anchor="ctr"/>
                </a:tc>
                <a:extLst>
                  <a:ext uri="{0D108BD9-81ED-4DB2-BD59-A6C34878D82A}">
                    <a16:rowId xmlns:a16="http://schemas.microsoft.com/office/drawing/2014/main" val="224985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20E9F-A52B-5116-DE10-9DFD834BA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19ECEC-CCB8-34E1-28BA-A4FCB109CF1C}"/>
              </a:ext>
            </a:extLst>
          </p:cNvPr>
          <p:cNvSpPr txBox="1"/>
          <p:nvPr/>
        </p:nvSpPr>
        <p:spPr>
          <a:xfrm>
            <a:off x="2513405" y="551058"/>
            <a:ext cx="7967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INNOVATION, CREATIVITY &amp; NOVELTY</a:t>
            </a: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A30B00-29E5-A13B-770D-2A16C60A9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D774B4-3585-08EE-725C-07F2F97EF46D}"/>
              </a:ext>
            </a:extLst>
          </p:cNvPr>
          <p:cNvSpPr txBox="1"/>
          <p:nvPr/>
        </p:nvSpPr>
        <p:spPr>
          <a:xfrm>
            <a:off x="707922" y="1748447"/>
            <a:ext cx="1081548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Full-Lifecycle Approach</a:t>
            </a:r>
            <a:r>
              <a:rPr lang="en-IN" sz="2000" dirty="0"/>
              <a:t>: Combines the major stages of a data science workflow in one platform.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Multiple ML Models</a:t>
            </a:r>
            <a:r>
              <a:rPr lang="en-IN" sz="2000" dirty="0"/>
              <a:t>: Uses Logistic Regression, Decision Tree and Random Forest for comparative evaluation.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Risk-Factor Visualization</a:t>
            </a:r>
            <a:r>
              <a:rPr lang="en-IN" sz="2000" dirty="0"/>
              <a:t>: Converts analytical findings into understandable visual insights.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Interactive Risk Prediction</a:t>
            </a:r>
            <a:r>
              <a:rPr lang="en-IN" sz="2000" dirty="0"/>
              <a:t>: Allows health-related inputs to be used for individual risk estimation.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Unified Dashboard</a:t>
            </a:r>
            <a:r>
              <a:rPr lang="en-IN" sz="2000" dirty="0"/>
              <a:t>: Brings population-level analytics, risk factors, model performance and predictions together.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User-Friendly Presentation</a:t>
            </a:r>
            <a:r>
              <a:rPr lang="en-IN" sz="2000" dirty="0"/>
              <a:t>: Makes machine-learning results accessible through an interactive interface.</a:t>
            </a:r>
          </a:p>
        </p:txBody>
      </p:sp>
    </p:spTree>
    <p:extLst>
      <p:ext uri="{BB962C8B-B14F-4D97-AF65-F5344CB8AC3E}">
        <p14:creationId xmlns:p14="http://schemas.microsoft.com/office/powerpoint/2010/main" val="4082150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A6F9E-8116-9A55-1583-6663E8D4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D7957C-8C02-29D4-F6CB-50FCD040F811}"/>
              </a:ext>
            </a:extLst>
          </p:cNvPr>
          <p:cNvSpPr txBox="1"/>
          <p:nvPr/>
        </p:nvSpPr>
        <p:spPr>
          <a:xfrm>
            <a:off x="2513405" y="551058"/>
            <a:ext cx="7967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TECHNICAL SOUNDNESS</a:t>
            </a: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25FE0C-989B-B15E-92E3-71DBAEE74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2D81EC-DFE0-B62F-6FA1-E6716CF2D9D7}"/>
              </a:ext>
            </a:extLst>
          </p:cNvPr>
          <p:cNvSpPr txBox="1"/>
          <p:nvPr/>
        </p:nvSpPr>
        <p:spPr>
          <a:xfrm>
            <a:off x="707922" y="1748447"/>
            <a:ext cx="108154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The project is technically feasible because: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The required healthcare datasets are </a:t>
            </a:r>
            <a:r>
              <a:rPr lang="en-IN" sz="2000" b="1" dirty="0"/>
              <a:t>publicly available</a:t>
            </a:r>
            <a:r>
              <a:rPr lang="en-IN" sz="2000" dirty="0"/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Python provides established libraries for data science and machine learning.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Pandas and NumPy support efficient data preprocessing.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Scikit-learn provides implementations of the selected ML algorithms.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Standard classification metrics can be used to objectively evaluate models.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 err="1"/>
              <a:t>Streamlit</a:t>
            </a:r>
            <a:r>
              <a:rPr lang="en-IN" sz="2000" dirty="0"/>
              <a:t> can integrate the trained model with an interactive dashboard.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The proposed workflow can be developed and tested incrementally. </a:t>
            </a:r>
          </a:p>
          <a:p>
            <a:pPr lvl="0"/>
            <a:endParaRPr lang="en-IN" sz="2000" dirty="0"/>
          </a:p>
          <a:p>
            <a:r>
              <a:rPr lang="en-IN" sz="2000" b="1" u="sng" dirty="0"/>
              <a:t>Expected Technical Output</a:t>
            </a:r>
          </a:p>
          <a:p>
            <a:r>
              <a:rPr lang="en-IN" sz="2000" b="1" dirty="0"/>
              <a:t>Clean Dataset → EDA Results → Trained Models → Evaluation Results → Risk Prediction → Interactive Dashboard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32526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1A728-E21F-377F-E955-7FFA805F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180650-C6B4-FA7C-8E3C-956D8C398A39}"/>
              </a:ext>
            </a:extLst>
          </p:cNvPr>
          <p:cNvSpPr txBox="1"/>
          <p:nvPr/>
        </p:nvSpPr>
        <p:spPr>
          <a:xfrm>
            <a:off x="2549981" y="527277"/>
            <a:ext cx="7967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PROJECT PLAN </a:t>
            </a: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BDB173-06F5-2273-101D-166E8433C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5AF4DA-4FF4-B6F6-EC67-1BC5175E0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153206"/>
              </p:ext>
            </p:extLst>
          </p:nvPr>
        </p:nvGraphicFramePr>
        <p:xfrm>
          <a:off x="888492" y="1353312"/>
          <a:ext cx="10415016" cy="4659666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5207508">
                  <a:extLst>
                    <a:ext uri="{9D8B030D-6E8A-4147-A177-3AD203B41FA5}">
                      <a16:colId xmlns:a16="http://schemas.microsoft.com/office/drawing/2014/main" val="3266238506"/>
                    </a:ext>
                  </a:extLst>
                </a:gridCol>
                <a:gridCol w="5207508">
                  <a:extLst>
                    <a:ext uri="{9D8B030D-6E8A-4147-A177-3AD203B41FA5}">
                      <a16:colId xmlns:a16="http://schemas.microsoft.com/office/drawing/2014/main" val="672027632"/>
                    </a:ext>
                  </a:extLst>
                </a:gridCol>
              </a:tblGrid>
              <a:tr h="423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Phase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5557339"/>
                  </a:ext>
                </a:extLst>
              </a:tr>
              <a:tr h="423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Phase 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Problem identification &amp; literature survey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399839"/>
                  </a:ext>
                </a:extLst>
              </a:tr>
              <a:tr h="423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Phase 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Dataset collection &amp; understanding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662038"/>
                  </a:ext>
                </a:extLst>
              </a:tr>
              <a:tr h="423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Phase 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Data preprocessing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285833"/>
                  </a:ext>
                </a:extLst>
              </a:tr>
              <a:tr h="423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Phase 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EDA &amp; statistical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105341"/>
                  </a:ext>
                </a:extLst>
              </a:tr>
              <a:tr h="423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Phase 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Feature engineering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3246790"/>
                  </a:ext>
                </a:extLst>
              </a:tr>
              <a:tr h="423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Phase 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ML model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499171"/>
                  </a:ext>
                </a:extLst>
              </a:tr>
              <a:tr h="423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Phase 7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Model evaluation &amp; comparison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0134211"/>
                  </a:ext>
                </a:extLst>
              </a:tr>
              <a:tr h="423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Phase 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Dashboard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7181560"/>
                  </a:ext>
                </a:extLst>
              </a:tr>
              <a:tr h="423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Phase 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Integration &amp; 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699861"/>
                  </a:ext>
                </a:extLst>
              </a:tr>
              <a:tr h="423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Phase 10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Documentation &amp; final 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07275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379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CE10E-DC94-26D0-884C-4C195A793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19514F-3C13-2743-BCB7-6A1929D63292}"/>
              </a:ext>
            </a:extLst>
          </p:cNvPr>
          <p:cNvSpPr txBox="1"/>
          <p:nvPr/>
        </p:nvSpPr>
        <p:spPr>
          <a:xfrm>
            <a:off x="2483909" y="551058"/>
            <a:ext cx="7967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EXPECTED OUTCOME</a:t>
            </a: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21263B-0BFA-8565-93A3-0D6C9E857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178E49-CC2A-E7A6-A6AF-85673239BF83}"/>
              </a:ext>
            </a:extLst>
          </p:cNvPr>
          <p:cNvSpPr txBox="1"/>
          <p:nvPr/>
        </p:nvSpPr>
        <p:spPr>
          <a:xfrm>
            <a:off x="837905" y="1997839"/>
            <a:ext cx="1051619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 cleaned and analysis-ready healthcare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Identification of important health and disease-related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Visualization of major risk factors.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Trained Logistic Regression, Decision Tree and Random Forest models.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Comparative evaluation of the ML models.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 model capable of providing individual disease-risk predictions.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An interactive dashboard combining analytics and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 complete demonstration of a </a:t>
            </a:r>
            <a:r>
              <a:rPr lang="en-IN" sz="2000" b="1" dirty="0"/>
              <a:t>data-driven public health analytics workflow</a:t>
            </a:r>
            <a:r>
              <a:rPr lang="en-IN" sz="2000" dirty="0"/>
              <a:t>.</a:t>
            </a: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51800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A44E5-0129-F984-71CB-8FC8676E4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A19029-CC5F-70BA-6AF9-906C75B1F89D}"/>
              </a:ext>
            </a:extLst>
          </p:cNvPr>
          <p:cNvSpPr txBox="1"/>
          <p:nvPr/>
        </p:nvSpPr>
        <p:spPr>
          <a:xfrm>
            <a:off x="2513405" y="551058"/>
            <a:ext cx="7967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CONCLUSION</a:t>
            </a: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0A700B-FB54-95CB-3524-AD58C0545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DADC9A-F9C0-2B6B-385D-C934D1B41F7F}"/>
              </a:ext>
            </a:extLst>
          </p:cNvPr>
          <p:cNvSpPr txBox="1"/>
          <p:nvPr/>
        </p:nvSpPr>
        <p:spPr>
          <a:xfrm>
            <a:off x="898865" y="1945879"/>
            <a:ext cx="1039427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HealthScope aims to transform healthcare data into </a:t>
            </a:r>
            <a:r>
              <a:rPr lang="en-IN" sz="2000" b="1" dirty="0"/>
              <a:t>meaningful and actionable insights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project combines </a:t>
            </a:r>
            <a:r>
              <a:rPr lang="en-IN" sz="2000" b="1" dirty="0"/>
              <a:t>data preprocessing, EDA, statistical analysis, feature engineering and machine learning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Multiple classification models will be evaluated for disease-risk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results will be presented through an </a:t>
            </a:r>
            <a:r>
              <a:rPr lang="en-IN" sz="2000" b="1" dirty="0"/>
              <a:t>interactive dashboard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platform demonstrates how data science can support </a:t>
            </a:r>
            <a:r>
              <a:rPr lang="en-IN" sz="2000" b="1" dirty="0"/>
              <a:t>early risk identification and informed decision-making</a:t>
            </a:r>
            <a:r>
              <a:rPr lang="en-IN" sz="2000" dirty="0"/>
              <a:t>.</a:t>
            </a: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40628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ACF76-3B70-9E4B-676C-3A86FAB32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7915" y="2826057"/>
            <a:ext cx="2789903" cy="7110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600" i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26022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1506</Words>
  <Application>Microsoft Office PowerPoint</Application>
  <PresentationFormat>Widescreen</PresentationFormat>
  <Paragraphs>229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Kavya Sai</cp:lastModifiedBy>
  <cp:revision>35</cp:revision>
  <dcterms:created xsi:type="dcterms:W3CDTF">2026-08-08T06:33:56Z</dcterms:created>
  <dcterms:modified xsi:type="dcterms:W3CDTF">2026-09-17T04:44:42Z</dcterms:modified>
</cp:coreProperties>
</file>